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01  - 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0047FF"/>
                </a:solidFill>
                <a:latin typeface="Segoe Script"/>
              </a:rPr>
              <a:t>Он проиграл Москву,  чтобы выиграть войну.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2179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 i="0">
                <a:solidFill>
                  <a:srgbClr val="1A1A1A"/>
                </a:solidFill>
                <a:latin typeface="Montserrat"/>
              </a:rPr>
              <a:t>Кутузов.</a:t>
            </a:r>
          </a:p>
          <a:p>
            <a:pPr algn="l">
              <a:lnSpc>
                <a:spcPct val="95000"/>
              </a:lnSpc>
            </a:pPr>
            <a:r>
              <a:rPr sz="6400" b="1" i="0">
                <a:solidFill>
                  <a:srgbClr val="1A1A1A"/>
                </a:solidFill>
                <a:latin typeface="Montserrat"/>
              </a:rPr>
              <a:t>Михаил</a:t>
            </a:r>
          </a:p>
          <a:p>
            <a:pPr algn="l">
              <a:lnSpc>
                <a:spcPct val="95000"/>
              </a:lnSpc>
            </a:pPr>
            <a:r>
              <a:rPr sz="6400" b="1" i="0">
                <a:solidFill>
                  <a:srgbClr val="1A1A1A"/>
                </a:solidFill>
                <a:latin typeface="Montserrat"/>
              </a:rPr>
              <a:t>Илларионович.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3840480" cy="201168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40080" y="4224295"/>
            <a:ext cx="3840480" cy="128424"/>
          </a:xfrm>
          <a:custGeom>
            <a:avLst/>
            <a:gdLst/>
            <a:ahLst/>
            <a:cxnLst/>
            <a:rect l="l" t="t" r="r" b="b"/>
            <a:pathLst>
              <a:path w="3840480" h="128424">
                <a:moveTo>
                  <a:pt x="0" y="64241"/>
                </a:moveTo>
                <a:lnTo>
                  <a:pt x="640080" y="128365"/>
                </a:lnTo>
                <a:lnTo>
                  <a:pt x="1280160" y="128424"/>
                </a:lnTo>
                <a:lnTo>
                  <a:pt x="1920240" y="64359"/>
                </a:lnTo>
                <a:lnTo>
                  <a:pt x="2560320" y="176"/>
                </a:lnTo>
                <a:lnTo>
                  <a:pt x="3200400" y="0"/>
                </a:lnTo>
                <a:lnTo>
                  <a:pt x="3840480" y="64005"/>
                </a:lnTo>
              </a:path>
            </a:pathLst>
          </a:custGeom>
          <a:noFill/>
          <a:ln w="63500" cap="rnd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Inter"/>
              </a:rPr>
              <a:t>Великий русский полководец - или главный мастер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Inter"/>
              </a:rPr>
              <a:t>стратегического отступления в истории Европы?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1745  -  1813      ·      FIELDMARSHAL      ·      BATTLE OF BORODINO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480561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006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40681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2084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4088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6091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6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010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2103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7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6112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8116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012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92123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4127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6132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88135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2014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52144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4147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16152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8155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8016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12164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44167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76171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08175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40180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72184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041880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36191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681959" y="0"/>
            <a:ext cx="1828800" cy="685800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7315200" y="1097280"/>
            <a:ext cx="3931920" cy="1097280"/>
          </a:xfrm>
          <a:prstGeom prst="triangl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rapezoid 49"/>
          <p:cNvSpPr/>
          <p:nvPr/>
        </p:nvSpPr>
        <p:spPr>
          <a:xfrm rot="10800000">
            <a:off x="7223760" y="1737360"/>
            <a:ext cx="4114800" cy="640080"/>
          </a:xfrm>
          <a:prstGeom prst="trapezoid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ight Triangle 50"/>
          <p:cNvSpPr/>
          <p:nvPr/>
        </p:nvSpPr>
        <p:spPr>
          <a:xfrm rot="1200000">
            <a:off x="10515600" y="640080"/>
            <a:ext cx="1005840" cy="1097280"/>
          </a:xfrm>
          <a:prstGeom prst="rtTriangl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5279" y="2194560"/>
            <a:ext cx="2743200" cy="3108960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3200400"/>
            <a:ext cx="310896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772400" y="3246120"/>
            <a:ext cx="3108960" cy="0"/>
          </a:xfrm>
          <a:prstGeom prst="line">
            <a:avLst/>
          </a:prstGeom>
          <a:ln w="19050"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2400" y="3611880"/>
            <a:ext cx="3108960" cy="0"/>
          </a:xfrm>
          <a:prstGeom prst="line">
            <a:avLst/>
          </a:prstGeom>
          <a:ln w="19050"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rapezoid 55"/>
          <p:cNvSpPr/>
          <p:nvPr/>
        </p:nvSpPr>
        <p:spPr>
          <a:xfrm>
            <a:off x="6858000" y="5120640"/>
            <a:ext cx="5029200" cy="1737360"/>
          </a:xfrm>
          <a:prstGeom prst="trapezoid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040880" y="5029200"/>
            <a:ext cx="822960" cy="822960"/>
          </a:xfrm>
          <a:prstGeom prst="ellips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81360" y="5029200"/>
            <a:ext cx="822960" cy="822960"/>
          </a:xfrm>
          <a:prstGeom prst="ellips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5715000"/>
            <a:ext cx="182880" cy="82296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69680" y="6035040"/>
            <a:ext cx="822960" cy="1828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61722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FFFFFF"/>
                </a:solidFill>
                <a:latin typeface="Segoe Script"/>
              </a:rPr>
              <a:t>«не победит тот, кто не умеет вовремя уйти» - заметка на полях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1005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F6A00"/>
                </a:solidFill>
                <a:latin typeface="Segoe Script"/>
              </a:rPr>
              <a:t>тот самый  ↙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02  - 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12191695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sz="40000" b="1" i="0">
                <a:solidFill>
                  <a:srgbClr val="E0E0E0"/>
                </a:solidFill>
                <a:latin typeface="Montserrat"/>
              </a:rPr>
              <a:t>610 000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A1A1A"/>
                </a:solidFill>
                <a:latin typeface="Montserrat"/>
              </a:rPr>
              <a:t>Армия Наполеона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A1A1A"/>
                </a:solidFill>
                <a:latin typeface="Montserrat"/>
              </a:rPr>
              <a:t>идёт на Россию.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Inter"/>
              </a:rPr>
              <a:t>Крупнейшее вторжение в истории Европы. Прямой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Inter"/>
              </a:rPr>
              <a:t>бой - самоубийство. Отступать - позор.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303520"/>
            <a:ext cx="3566160" cy="73152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FF6A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3035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1">
                <a:solidFill>
                  <a:srgbClr val="FF6A00"/>
                </a:solidFill>
                <a:latin typeface="Segoe Script"/>
              </a:rPr>
              <a:t>Что делать, Михаил Илларионович?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90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03  -  ПАУЗА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03 / 10</a:t>
            </a:r>
          </a:p>
        </p:txBody>
      </p:sp>
      <p:sp>
        <p:nvSpPr>
          <p:cNvPr id="6" name="Oval 5"/>
          <p:cNvSpPr/>
          <p:nvPr/>
        </p:nvSpPr>
        <p:spPr>
          <a:xfrm>
            <a:off x="-1097280" y="457200"/>
            <a:ext cx="4114800" cy="4114800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3840480"/>
            <a:ext cx="3200400" cy="3200400"/>
          </a:xfrm>
          <a:prstGeom prst="ellips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83710" y="1417320"/>
            <a:ext cx="4023360" cy="40233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20870" y="1508760"/>
            <a:ext cx="3749040" cy="3749040"/>
          </a:xfrm>
          <a:prstGeom prst="ellipse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03750" y="1645920"/>
            <a:ext cx="3383280" cy="3383280"/>
          </a:xfrm>
          <a:prstGeom prst="ellips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72430" y="2148840"/>
            <a:ext cx="82296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5310" y="2788920"/>
            <a:ext cx="1280160" cy="128016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55310" y="3977640"/>
            <a:ext cx="1280160" cy="91440"/>
          </a:xfrm>
          <a:prstGeom prst="roundRect">
            <a:avLst>
              <a:gd name="adj" fmla="val 30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3910" y="3108960"/>
            <a:ext cx="822960" cy="64008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958230" y="3108960"/>
            <a:ext cx="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32550" y="3108960"/>
            <a:ext cx="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ns0="http://schemas.microsoft.com/office/powerpoint/2010/main" spd="med" advClick="1" ns0:dur="700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04  -  ПАУЗА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04 / 10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-914400"/>
            <a:ext cx="4114800" cy="4114800"/>
          </a:xfrm>
          <a:prstGeom prst="ellips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83710" y="1417320"/>
            <a:ext cx="4023360" cy="40233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20870" y="1508760"/>
            <a:ext cx="3749040" cy="3749040"/>
          </a:xfrm>
          <a:prstGeom prst="ellipse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03750" y="1645920"/>
            <a:ext cx="3383280" cy="3383280"/>
          </a:xfrm>
          <a:prstGeom prst="ellips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72430" y="2148840"/>
            <a:ext cx="82296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5310" y="2788920"/>
            <a:ext cx="1280160" cy="128016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55310" y="3977640"/>
            <a:ext cx="1280160" cy="91440"/>
          </a:xfrm>
          <a:prstGeom prst="roundRect">
            <a:avLst>
              <a:gd name="adj" fmla="val 30000"/>
            </a:avLst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9630" y="3063240"/>
            <a:ext cx="731520" cy="73152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6095390" y="3154680"/>
            <a:ext cx="0" cy="27432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390" y="3429000"/>
            <a:ext cx="2011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ns0="http://schemas.microsoft.com/office/powerpoint/2010/main" spd="med" advClick="1" ns0:dur="700">
    <p:cover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05  -  ПАУЗА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05 / 10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-1828800"/>
            <a:ext cx="4114800" cy="4114800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83710" y="1417320"/>
            <a:ext cx="4023360" cy="40233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20870" y="1508760"/>
            <a:ext cx="3749040" cy="3749040"/>
          </a:xfrm>
          <a:prstGeom prst="ellipse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3750" y="1645920"/>
            <a:ext cx="3383280" cy="3383280"/>
          </a:xfrm>
          <a:prstGeom prst="ellips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72430" y="2148840"/>
            <a:ext cx="82296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55310" y="2788920"/>
            <a:ext cx="1280160" cy="128016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5310" y="3977640"/>
            <a:ext cx="1280160" cy="91440"/>
          </a:xfrm>
          <a:prstGeom prst="roundRect">
            <a:avLst>
              <a:gd name="adj" fmla="val 30000"/>
            </a:avLst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095390" y="3429000"/>
            <a:ext cx="0" cy="365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5390" y="3063240"/>
            <a:ext cx="0" cy="365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390" y="342900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29630" y="342900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390" y="3429000"/>
            <a:ext cx="256032" cy="25603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839358" y="3172968"/>
            <a:ext cx="256032" cy="25603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95390" y="3172968"/>
            <a:ext cx="256032" cy="25603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39358" y="3429000"/>
            <a:ext cx="256032" cy="25603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ns0="http://schemas.microsoft.com/office/powerpoint/2010/main" spd="med" advClick="1" ns0:dur="700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06  - 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A1A"/>
                </a:solidFill>
                <a:latin typeface="Montserrat"/>
              </a:rPr>
              <a:t>Четыре хода Кутузова,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A1A"/>
                </a:solidFill>
                <a:latin typeface="Montserrat"/>
              </a:rPr>
              <a:t>которые заменили «лобовой удар».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Вместо того чтобы играть по правилам Наполеона, он поменял саму игру: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время, пространство, снабжение и мораль.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47472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474720"/>
            <a:ext cx="5486400" cy="73152"/>
          </a:xfrm>
          <a:prstGeom prst="rect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65760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1A1A"/>
                </a:solidFill>
                <a:latin typeface="Montserrat"/>
              </a:rPr>
              <a:t>Бородино, 1812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1330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strike="sngStrike">
                <a:solidFill>
                  <a:srgbClr val="8A8A8A"/>
                </a:solidFill>
                <a:latin typeface="Inter"/>
              </a:rPr>
              <a:t>~ «Генеральное сражение ради сражения»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4348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→ Изматывание ценой поля, не армии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1">
                <a:solidFill>
                  <a:srgbClr val="0047FF"/>
                </a:solidFill>
                <a:latin typeface="Segoe Script"/>
              </a:rPr>
              <a:t>ход №1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5486400" cy="73152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37033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65760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1A1A"/>
                </a:solidFill>
                <a:latin typeface="Montserrat"/>
              </a:rPr>
              <a:t>Тарутинский манёвр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330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strike="sngStrike">
                <a:solidFill>
                  <a:srgbClr val="8A8A8A"/>
                </a:solidFill>
                <a:latin typeface="Inter"/>
              </a:rPr>
              <a:t>~ «Оборонять Москву любой ценой»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348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→ Отдать город, перекрыть юг и снабжение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1">
                <a:solidFill>
                  <a:srgbClr val="FF6A00"/>
                </a:solidFill>
                <a:latin typeface="Segoe Script"/>
              </a:rPr>
              <a:t>ход №2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6636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166360"/>
            <a:ext cx="5486400" cy="73152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53949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534924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1A1A"/>
                </a:solidFill>
                <a:latin typeface="Montserrat"/>
              </a:rPr>
              <a:t>Пустая Москва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8247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strike="sngStrike">
                <a:solidFill>
                  <a:srgbClr val="8A8A8A"/>
                </a:solidFill>
                <a:latin typeface="Inter"/>
              </a:rPr>
              <a:t>~ «Склады и зимние квартиры»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61264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→ Пепел вместо ресурсов для врага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303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1">
                <a:solidFill>
                  <a:srgbClr val="FF6A00"/>
                </a:solidFill>
                <a:latin typeface="Segoe Script"/>
              </a:rPr>
              <a:t>ход №3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16636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166360"/>
            <a:ext cx="5486400" cy="73152"/>
          </a:xfrm>
          <a:prstGeom prst="rect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53949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34924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1A1A"/>
                </a:solidFill>
                <a:latin typeface="Montserrat"/>
              </a:rPr>
              <a:t>Малоярославец + партизаны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8247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strike="sngStrike">
                <a:solidFill>
                  <a:srgbClr val="8A8A8A"/>
                </a:solidFill>
                <a:latin typeface="Inter"/>
              </a:rPr>
              <a:t>~ «Парадное преследование»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61264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→ Гнать по выжженной Смоленской дороге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303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1">
                <a:solidFill>
                  <a:srgbClr val="0047FF"/>
                </a:solidFill>
                <a:latin typeface="Segoe Script"/>
              </a:rPr>
              <a:t>ход №4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900">
    <p:zo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07  -  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FF6A00"/>
                </a:solidFill>
                <a:latin typeface="Segoe Script"/>
              </a:rPr>
              <a:t>1812, личная переписка*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760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A1A"/>
                </a:solidFill>
                <a:latin typeface="Montserrat"/>
              </a:rPr>
              <a:t>Результат,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A1A"/>
                </a:solidFill>
                <a:latin typeface="Montserrat"/>
              </a:rPr>
              <a:t>которого никто не ждал.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* реконструкция по мотивам донесений.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Армия Наполеона ушла из России с ~5% от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первоначальной численности. Без единого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«решающего сражения».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760720"/>
            <a:ext cx="1316736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Inter"/>
              </a:rPr>
              <a:t>#Бородино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5760720"/>
            <a:ext cx="1316736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5760720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Inter"/>
              </a:rPr>
              <a:t>#Тарутино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5760720"/>
            <a:ext cx="1316736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5760720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Inter"/>
              </a:rPr>
              <a:t>#Березина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8888" y="5760720"/>
            <a:ext cx="2084832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5760720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Inter"/>
              </a:rPr>
              <a:t>-580 000 солдат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097280"/>
            <a:ext cx="502920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731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TELEGRAM  ·  #СТАВКА 1812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1280160"/>
            <a:ext cx="502920" cy="502920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280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А1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047FF"/>
                </a:solidFill>
                <a:latin typeface="Inter"/>
              </a:rPr>
              <a:t>Александр 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554480"/>
            <a:ext cx="3291840" cy="82296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6276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Михаил Илларионович, вы правда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отдали Москву?! Это как вообще.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39572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8A8A8A"/>
                </a:solidFill>
                <a:latin typeface="Inter"/>
              </a:rPr>
              <a:t>14:02   ✓✓</a:t>
            </a:r>
          </a:p>
        </p:txBody>
      </p:sp>
      <p:sp>
        <p:nvSpPr>
          <p:cNvPr id="25" name="Oval 24"/>
          <p:cNvSpPr/>
          <p:nvPr/>
        </p:nvSpPr>
        <p:spPr>
          <a:xfrm>
            <a:off x="11018520" y="3017520"/>
            <a:ext cx="502920" cy="502920"/>
          </a:xfrm>
          <a:prstGeom prst="ellipse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1852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FF6A00"/>
                </a:solidFill>
                <a:latin typeface="Inter"/>
              </a:rPr>
              <a:t>Кутузов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3291840"/>
            <a:ext cx="3291840" cy="822960"/>
          </a:xfrm>
          <a:prstGeom prst="roundRect">
            <a:avLst>
              <a:gd name="adj" fmla="val 20000"/>
            </a:avLst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3649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Потерей Москвы ещё не потеряна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Россия. С потерей армии - Россия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погибла.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13308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8A8A8A"/>
                </a:solidFill>
                <a:latin typeface="Inter"/>
              </a:rPr>
              <a:t>19:47   ✓✓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34340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3616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A1A1A"/>
                </a:solidFill>
                <a:latin typeface="Inter"/>
              </a:rPr>
              <a:t>🔥 Барклай   🫡 Ермолов   ❤ Давыдов</a:t>
            </a:r>
          </a:p>
        </p:txBody>
      </p:sp>
      <p:sp>
        <p:nvSpPr>
          <p:cNvPr id="33" name="Oval 32"/>
          <p:cNvSpPr/>
          <p:nvPr/>
        </p:nvSpPr>
        <p:spPr>
          <a:xfrm>
            <a:off x="6949440" y="5120640"/>
            <a:ext cx="502920" cy="50292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5120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120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N. Bonaparte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5394960"/>
            <a:ext cx="3291840" cy="822960"/>
          </a:xfrm>
          <a:prstGeom prst="roundRect">
            <a:avLst>
              <a:gd name="adj" fmla="val 20000"/>
            </a:avLst>
          </a:prstGeom>
          <a:solidFill>
            <a:srgbClr val="FF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46811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Inter"/>
              </a:rPr>
              <a:t>прочитано  ✓✓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623620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8A8A8A"/>
                </a:solidFill>
                <a:latin typeface="Inter"/>
              </a:rPr>
              <a:t>—   ✓✓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900">
    <p:cover dir="d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08  -  ЦИТАТА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30000" b="1" i="0">
                <a:solidFill>
                  <a:srgbClr val="FF6A00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9601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Со взятием Москвы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ещё не покорена Россия.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120640"/>
            <a:ext cx="822960" cy="54864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Михаил Илларионович Кутузов,  1812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4864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1">
                <a:solidFill>
                  <a:srgbClr val="FF6A00"/>
                </a:solidFill>
                <a:latin typeface="Segoe Script"/>
              </a:rPr>
              <a:t>М. Кутузовъ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1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09  -  НАСЛЕДИЕ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0047FF"/>
                </a:solidFill>
                <a:latin typeface="Segoe Script"/>
              </a:rPr>
              <a:t>через 210 лет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A1A1A"/>
                </a:solidFill>
                <a:latin typeface="Montserrat"/>
              </a:rPr>
              <a:t>Его имя носят улицы,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A1A1A"/>
                </a:solidFill>
                <a:latin typeface="Montserrat"/>
              </a:rPr>
              <a:t>проспекты и военные доктрины.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0624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4206240"/>
            <a:ext cx="91440" cy="2011680"/>
          </a:xfrm>
          <a:prstGeom prst="rect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i="0">
                <a:solidFill>
                  <a:srgbClr val="1A1A1A"/>
                </a:solidFill>
                <a:latin typeface="Montserrat"/>
              </a:rPr>
              <a:t>1812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год, после которого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Россия стала другой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0624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206240"/>
            <a:ext cx="91440" cy="2011680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3891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i="0">
                <a:solidFill>
                  <a:srgbClr val="1A1A1A"/>
                </a:solidFill>
                <a:latin typeface="Montserrat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кампаний в биографии,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от Крыма до Европы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20624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4206240"/>
            <a:ext cx="91440" cy="2011680"/>
          </a:xfrm>
          <a:prstGeom prst="rect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3891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i="0">
                <a:solidFill>
                  <a:srgbClr val="1A1A1A"/>
                </a:solidFill>
                <a:latin typeface="Montserrat"/>
              </a:rPr>
              <a:t>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страниц учебников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Inter"/>
              </a:rPr>
              <a:t>и военных академий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900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00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Inter"/>
              </a:rPr>
              <a:t>SLIDE 10  -  ФИНАЛ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 i="0">
                <a:solidFill>
                  <a:srgbClr val="8A8A8A"/>
                </a:solidFill>
                <a:latin typeface="Montserrat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8A8A8A"/>
                </a:solidFill>
                <a:latin typeface="Segoe Script"/>
              </a:rPr>
              <a:t>давайте поговорим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1A1A1A"/>
                </a:solidFill>
                <a:latin typeface="Montserrat"/>
              </a:rPr>
              <a:t>Давайте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FF6A00"/>
                </a:solidFill>
                <a:latin typeface="Montserrat"/>
              </a:rPr>
              <a:t>сделаем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1A1A1A"/>
                </a:solidFill>
                <a:latin typeface="Montserrat"/>
              </a:rPr>
              <a:t>это.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2120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Вопрос не в том, дадим ли мы бой.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Inter"/>
              </a:rPr>
              <a:t>Вопрос - на чьём поле, в чью зиму и по чьим правилам.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6126480"/>
            <a:ext cx="2560320" cy="502920"/>
          </a:xfrm>
          <a:prstGeom prst="roundRect">
            <a:avLst>
              <a:gd name="adj" fmla="val 20000"/>
            </a:avLst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629107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1264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Открыть обсуждение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9319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914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1">
                <a:solidFill>
                  <a:srgbClr val="0047FF"/>
                </a:solidFill>
                <a:latin typeface="Segoe Script"/>
              </a:rPr>
              <a:t>наведи камеру, солдат 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1510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80499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9488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97465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36454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75443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14432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92409" y="146304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80499" y="16020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9488" y="16020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97465" y="16020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53420" y="16020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92409" y="16020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02521" y="174101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58476" y="174101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97465" y="174101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14432" y="174101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53420" y="174101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2521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80499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19488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75443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14432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53420" y="188000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41510" y="201899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58476" y="201899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92409" y="201899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02521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41510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80499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58476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97465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314432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53420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92409" y="215798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02521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80499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97465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75443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592409" y="22969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07577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63532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80499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14432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3420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92409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31398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70387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009376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48364" y="243596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68588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46566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85555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63532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02521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9488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6454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53420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870387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148364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565331" y="257495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29600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07577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24544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63532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341510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80499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58476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897465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36454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314432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92409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731398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9376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287353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426342" y="271393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68588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07577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46566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63532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341510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58476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36454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75443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53420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92409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731398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009376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287353" y="285292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924544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063532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02521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41510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80499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97465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175443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53420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592409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731398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70387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009376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148364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426342" y="29919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229600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46566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063532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341510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619488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758476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897465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175443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314432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453420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592409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870387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009376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426342" y="3130905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368588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924544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480499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619488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758476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897465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175443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314432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592409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31398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009376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148364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287353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1426342" y="326989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646566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785555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24544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63532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341510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758476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897465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453420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592409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870387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1148364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426342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565331" y="340888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229600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368588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646566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785555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63532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202521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619488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758476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897465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731398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565331" y="354787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229600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368588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507577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924544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63532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202521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341510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619488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175443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314432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453420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592409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009376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1148364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287353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1565331" y="3686860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368588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507577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063532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341510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758476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175443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92409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0731398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1009376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148364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565331" y="3825849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341510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480499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619488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758476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897465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036454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175443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731398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870387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1148364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565331" y="3964838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202521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41510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480499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619488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897465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036454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175443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592409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870387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1426342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1565331" y="4103827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341510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80499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314432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453420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148364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287353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426342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1565331" y="4242816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202521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619488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758476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897465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175443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592409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731398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1009376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148364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1287353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426342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565331" y="4381804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175443" y="452079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870387" y="452079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1009376" y="452079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148364" y="4520793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619488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036454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175443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314432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870387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1009376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148364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287353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426342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565331" y="4659782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341510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480499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58476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897465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036454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175443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314432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731398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870387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148364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1287353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1565331" y="4798771"/>
            <a:ext cx="138988" cy="1389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229600" y="1463040"/>
            <a:ext cx="972921" cy="972921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368588" y="1602028"/>
            <a:ext cx="69494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507577" y="1741017"/>
            <a:ext cx="416966" cy="41696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731398" y="1463040"/>
            <a:ext cx="972921" cy="972921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870387" y="1602028"/>
            <a:ext cx="69494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009376" y="1741017"/>
            <a:ext cx="416966" cy="41696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8229600" y="3964838"/>
            <a:ext cx="972921" cy="972921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368588" y="4103827"/>
            <a:ext cx="69494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507577" y="4242816"/>
            <a:ext cx="416966" cy="41696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619488" y="2852928"/>
            <a:ext cx="694944" cy="69494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758476" y="2991916"/>
            <a:ext cx="416966" cy="41696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8A8A8A"/>
                </a:solidFill>
                <a:latin typeface="Montserrat"/>
              </a:rPr>
              <a:t>ПРЕЗЕНТАЦИЯ  ·  КУТУЗОВ М.И.  ·  1745 - 1813</a:t>
            </a:r>
          </a:p>
        </p:txBody>
      </p:sp>
    </p:spTree>
  </p:cSld>
  <p:clrMapOvr>
    <a:masterClrMapping/>
  </p:clrMapOvr>
  <p:transition xmlns:ns0="http://schemas.microsoft.com/office/powerpoint/2010/main" spd="med" advClick="1" ns0:dur="1100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